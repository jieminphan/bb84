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1" r:id="rId3"/>
    <p:sldId id="257" r:id="rId4"/>
    <p:sldId id="258" r:id="rId5"/>
    <p:sldId id="262" r:id="rId6"/>
    <p:sldId id="263" r:id="rId7"/>
    <p:sldId id="259" r:id="rId8"/>
    <p:sldId id="260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8"/>
    <p:restoredTop sz="94629"/>
  </p:normalViewPr>
  <p:slideViewPr>
    <p:cSldViewPr snapToGrid="0">
      <p:cViewPr varScale="1">
        <p:scale>
          <a:sx n="99" d="100"/>
          <a:sy n="99" d="100"/>
        </p:scale>
        <p:origin x="19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2EB8C-200E-3B47-83A8-2391D95D595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A0578-05DE-E54F-B576-A6122954B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37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www.nsa.gov</a:t>
            </a:r>
            <a:r>
              <a:rPr lang="en-US" dirty="0"/>
              <a:t>/Cybersecurity/Quantum-Key-Distribution-QKD-and-Quantum-Cryptography-QC/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A0578-05DE-E54F-B576-A6122954BEF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047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medium.com</a:t>
            </a:r>
            <a:r>
              <a:rPr lang="en-US" dirty="0"/>
              <a:t>/@</a:t>
            </a:r>
            <a:r>
              <a:rPr lang="en-US" dirty="0" err="1"/>
              <a:t>qcgiitr</a:t>
            </a:r>
            <a:r>
              <a:rPr lang="en-US" dirty="0"/>
              <a:t>/fundamentals-of-quantum-key-distribution-bb84-b92-e91-protocols-e1373b683ead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A0578-05DE-E54F-B576-A6122954BEF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31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medium.com</a:t>
            </a:r>
            <a:r>
              <a:rPr lang="en-US" dirty="0"/>
              <a:t>/@</a:t>
            </a:r>
            <a:r>
              <a:rPr lang="en-US" dirty="0" err="1"/>
              <a:t>qcgiitr</a:t>
            </a:r>
            <a:r>
              <a:rPr lang="en-US" dirty="0"/>
              <a:t>/fundamentals-of-quantum-key-distribution-bb84-b92-e91-protocols-e1373b683ead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A0578-05DE-E54F-B576-A6122954BEF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55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=2kdRuqvIaww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A0578-05DE-E54F-B576-A6122954BEF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58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medium.com</a:t>
            </a:r>
            <a:r>
              <a:rPr lang="en-US" dirty="0"/>
              <a:t>/</a:t>
            </a:r>
            <a:r>
              <a:rPr lang="en-US" dirty="0" err="1"/>
              <a:t>sss</a:t>
            </a:r>
            <a:r>
              <a:rPr lang="en-US" dirty="0"/>
              <a:t>-quantum/quantum-key-distribution-explained-bb84-b92-e91-protocols-38209d0a7dc0</a:t>
            </a:r>
          </a:p>
          <a:p>
            <a:r>
              <a:rPr lang="en-US" dirty="0"/>
              <a:t>https://</a:t>
            </a:r>
            <a:r>
              <a:rPr lang="en-US" dirty="0" err="1"/>
              <a:t>media.neliti.com</a:t>
            </a:r>
            <a:r>
              <a:rPr lang="en-US" dirty="0"/>
              <a:t>/media/publications/265683-comparison-and-analysis-of-bb84-and-e91-009f5508.pdf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A0578-05DE-E54F-B576-A6122954BEF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80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medium.com</a:t>
            </a:r>
            <a:r>
              <a:rPr lang="en-US" dirty="0"/>
              <a:t>/@</a:t>
            </a:r>
            <a:r>
              <a:rPr lang="en-US" dirty="0" err="1"/>
              <a:t>qcgiitr</a:t>
            </a:r>
            <a:r>
              <a:rPr lang="en-US" dirty="0"/>
              <a:t>/fundamentals-of-quantum-key-distribution-bb84-b92-e91-protocols-e1373b683ead</a:t>
            </a:r>
          </a:p>
          <a:p>
            <a:r>
              <a:rPr lang="en-US" dirty="0"/>
              <a:t>https://</a:t>
            </a:r>
            <a:r>
              <a:rPr lang="en-US" dirty="0" err="1"/>
              <a:t>www.arpnjournals.org</a:t>
            </a:r>
            <a:r>
              <a:rPr lang="en-US" dirty="0"/>
              <a:t>/</a:t>
            </a:r>
            <a:r>
              <a:rPr lang="en-US" dirty="0" err="1"/>
              <a:t>jeas</a:t>
            </a:r>
            <a:r>
              <a:rPr lang="en-US" dirty="0"/>
              <a:t>/</a:t>
            </a:r>
            <a:r>
              <a:rPr lang="en-US" dirty="0" err="1"/>
              <a:t>research_papers</a:t>
            </a:r>
            <a:r>
              <a:rPr lang="en-US" dirty="0"/>
              <a:t>/rp_2020/jeas_1120_8416.pdf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A0578-05DE-E54F-B576-A6122954BEF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90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AB6AB-083F-8D9D-C8D3-1FB6A15F8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30A26-317F-1FA2-5FA3-201D68936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6F738-2350-EFC0-B784-3D342B5BF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cyber.gouv.fr</a:t>
            </a:r>
            <a:r>
              <a:rPr lang="en-US" dirty="0"/>
              <a:t>/sites/default/files/document/</a:t>
            </a:r>
            <a:r>
              <a:rPr lang="en-US" dirty="0" err="1"/>
              <a:t>Quantum_Key_Distribution_Position_Paper.pdf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www.nsa.gov</a:t>
            </a:r>
            <a:r>
              <a:rPr lang="en-US" dirty="0"/>
              <a:t>/Cybersecurity/Quantum-Key-Distribution-QKD-and-Quantum-Cryptography-QC/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6165E-26C3-1284-B224-D1DAA543C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A0578-05DE-E54F-B576-A6122954BEF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22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0CB78-38A9-8E8C-30B5-DBB4932DD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EC479-35B1-BFAC-FFEC-B3843C2F0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C7730-0EC7-B413-5665-7DA87113C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www.global.toshiba</a:t>
            </a:r>
            <a:r>
              <a:rPr lang="en-US" dirty="0"/>
              <a:t>/ww/company/</a:t>
            </a:r>
            <a:r>
              <a:rPr lang="en-US" dirty="0" err="1"/>
              <a:t>digitalsolution</a:t>
            </a:r>
            <a:r>
              <a:rPr lang="en-US" dirty="0"/>
              <a:t>/articles/</a:t>
            </a:r>
            <a:r>
              <a:rPr lang="en-US" dirty="0" err="1"/>
              <a:t>tsoul</a:t>
            </a:r>
            <a:r>
              <a:rPr lang="en-US" dirty="0"/>
              <a:t>/tech/t0204.html</a:t>
            </a:r>
          </a:p>
          <a:p>
            <a:r>
              <a:rPr lang="en-US" dirty="0"/>
              <a:t>https://</a:t>
            </a:r>
            <a:r>
              <a:rPr lang="en-US" dirty="0" err="1"/>
              <a:t>www.businessresearchinsights.com</a:t>
            </a:r>
            <a:r>
              <a:rPr lang="en-US" dirty="0"/>
              <a:t>/market-reports/quantum-key-distribution-qkd-market-106645</a:t>
            </a:r>
          </a:p>
          <a:p>
            <a:r>
              <a:rPr lang="en-US" dirty="0"/>
              <a:t>https://</a:t>
            </a:r>
            <a:r>
              <a:rPr lang="en-US" dirty="0" err="1"/>
              <a:t>www.comsoc.org</a:t>
            </a:r>
            <a:r>
              <a:rPr lang="en-US" dirty="0"/>
              <a:t>/publications/</a:t>
            </a:r>
            <a:r>
              <a:rPr lang="en-US" dirty="0" err="1"/>
              <a:t>ctn</a:t>
            </a:r>
            <a:r>
              <a:rPr lang="en-US" dirty="0"/>
              <a:t>/quantum-key-distribution-</a:t>
            </a:r>
            <a:r>
              <a:rPr lang="en-US" dirty="0" err="1"/>
              <a:t>qkd</a:t>
            </a:r>
            <a:r>
              <a:rPr lang="en-US" dirty="0"/>
              <a:t>-safeguarding-future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E1A7F-1B73-C9DD-51CF-BAA68F1ED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A0578-05DE-E54F-B576-A6122954BEF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27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D117D-A75A-46FD-2846-6D354D6AD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78EAC-4C7F-651C-824C-CCDD91398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5214B-18C6-4ABE-7244-B476AB46F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07A6-DBA6-0A41-A452-5F30922A2E07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E4DD5-7B35-A997-7DB7-DED83090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EC821-DB95-3501-AF5B-A597C84B8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05CE-5C38-1844-96AA-3541AF93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99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79DD-9FF5-6681-44CE-DB870C19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FE4F2-C889-0192-F953-85761EB0D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57916-FB4B-AE13-97B7-925C3D12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07A6-DBA6-0A41-A452-5F30922A2E07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7D6CC-975F-349F-FD31-9619B098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52F81-AE78-EE11-A779-46EDBB44D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05CE-5C38-1844-96AA-3541AF93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290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560A5-941A-BE56-1DDC-E6DE0E5A5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7B878-207B-E332-7E8E-F2EBA80ED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438F0-17C2-951B-3825-92873D0F6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07A6-DBA6-0A41-A452-5F30922A2E07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CF7B4-37CD-4AFD-5DD2-EFC4B8EB4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679AA-AE78-B828-D94A-855B3B9EA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05CE-5C38-1844-96AA-3541AF93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4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AC158-49E2-8A22-BE27-C95C9E6E6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73067-8193-8587-9552-80AF8BB48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FF238-78C4-0842-9FC8-5FB4F5958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1C7CE-113E-4A58-1A45-2AEC88C57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07A6-DBA6-0A41-A452-5F30922A2E07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1BBD6-7F5F-5C09-4059-603D15E1F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B9359-89C5-65C0-02A2-10F91505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05CE-5C38-1844-96AA-3541AF93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78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3E9CF-F09C-61EC-888A-0FFFC93EF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AF72D-960D-C3F5-73DC-FBCB2F620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02764-2C38-C05C-5CE8-E0DD62B43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C2BE02-9A10-9DC5-27D0-AAE38EC10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32CB40-7C6C-EAF8-98BA-2F6BE218A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8E18FA-EE72-2BEB-1B70-46EFB3DA4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07A6-DBA6-0A41-A452-5F30922A2E07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BCD845-C39E-052E-DDD5-F0CA2267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B2950B-D5BD-70F4-FF8D-D04293635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05CE-5C38-1844-96AA-3541AF93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315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0FE24-3505-1DA0-00E4-6E88E4CC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022F47-00EB-4A25-9E9A-9AB7EEB26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07A6-DBA6-0A41-A452-5F30922A2E07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0FDA5A-42CD-BAF5-FE32-D722D0FE1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229F1-4315-412D-F822-B20124EA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05CE-5C38-1844-96AA-3541AF93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59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1211BE-A4F4-6F18-6A0D-33A5B5D3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07A6-DBA6-0A41-A452-5F30922A2E07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1721C9-DE1D-9DB9-7948-88B48F866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71E16-AE7C-FC36-9E1A-BB27E3A4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05CE-5C38-1844-96AA-3541AF93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426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0E574-2E41-0053-7729-23500780D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6259C-53BF-6729-8140-D8061F724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D78F1-093D-3108-4183-2C1E3EC41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1C5E8-102E-3311-CD9F-A9F144E15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07A6-DBA6-0A41-A452-5F30922A2E07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8AF6C-CE9D-9996-3A68-314DCBF2C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E94EE-B137-E4AB-62CE-F568AD01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05CE-5C38-1844-96AA-3541AF93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63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F82E-1CDE-BA31-C3BE-7EE9787A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0A00B-13EF-7F52-B647-907AA2959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3E332-7F89-AA04-8C85-BBDA7B628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1933F-4ECA-232A-55CF-332B7CAB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07A6-DBA6-0A41-A452-5F30922A2E07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0BBC8-14FA-7B2A-5019-E0BDAF388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089F3-D7CA-E148-D1D5-AB7224FB9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05CE-5C38-1844-96AA-3541AF93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1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E0EF7-5861-F7EE-8B01-6D4D52961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D6B52-1E0A-2145-4FEA-4F6F24FF6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ECC05-89C2-922D-F9F7-623A774B8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07A6-DBA6-0A41-A452-5F30922A2E07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3EE78-9C64-5F17-7048-A502F09CA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8BC6A-B286-8AD5-2EF1-A62BDA93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05CE-5C38-1844-96AA-3541AF93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69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B845AE-6635-489D-37B4-05E8B79E6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99C39-D2BC-F943-A780-8C9D71E42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623F9-0901-862D-E2A9-780DAC01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07A6-DBA6-0A41-A452-5F30922A2E07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37723-BDB3-1734-E215-23E57B67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455AA-A9A2-C216-8A02-068AD7820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05CE-5C38-1844-96AA-3541AF93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33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BAC928-BBD7-3677-5556-36A96EB01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E5B00-8487-1AD1-52D4-4CE09DFC7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90D9E-E9C9-371F-227E-7DA441485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5E07A6-DBA6-0A41-A452-5F30922A2E07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2AB99-ECC6-4CB7-C035-69D352D63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B91DE-3AF5-08BF-04B0-EB468E1B6C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405CE-5C38-1844-96AA-3541AF939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89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2kdRuqvIaww?feature=oembed" TargetMode="Externa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5ACE72-2FC5-75D0-7B62-8D8A19B8C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3545" y="1798115"/>
            <a:ext cx="8964910" cy="2513516"/>
          </a:xfrm>
        </p:spPr>
        <p:txBody>
          <a:bodyPr>
            <a:normAutofit/>
          </a:bodyPr>
          <a:lstStyle/>
          <a:p>
            <a:r>
              <a:rPr lang="en-US" sz="4800" dirty="0"/>
              <a:t>BB84 and Quantum Key Distribution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DFE1B-112C-E870-2B99-B60DDF77B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256639"/>
            <a:ext cx="5561938" cy="1534587"/>
          </a:xfrm>
        </p:spPr>
        <p:txBody>
          <a:bodyPr>
            <a:normAutofit/>
          </a:bodyPr>
          <a:lstStyle/>
          <a:p>
            <a:r>
              <a:rPr lang="en-US" dirty="0"/>
              <a:t>By Phan Jie Min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65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CF63F4-1E47-D033-DB23-8D235CD30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Quantum Key Distribution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9859C-4049-8A24-D782-CD384478C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Quantum Key Distribution (QKD) makes use of quantum technologies such as quantum states, single photons, or entangled particles to generate and distribute cryptographic keying material.</a:t>
            </a:r>
          </a:p>
          <a:p>
            <a:r>
              <a:rPr lang="en-US" dirty="0"/>
              <a:t>It is used for its security purposes, and its protocols, combined with classical authentication methods, provide confidentiality and can remain secure even against quantum computers.</a:t>
            </a:r>
          </a:p>
          <a:p>
            <a:r>
              <a:rPr lang="en-US" dirty="0"/>
              <a:t>The protocols are based on quantum principles, such as the no-cloning theorem.</a:t>
            </a:r>
          </a:p>
        </p:txBody>
      </p:sp>
    </p:spTree>
    <p:extLst>
      <p:ext uri="{BB962C8B-B14F-4D97-AF65-F5344CB8AC3E}">
        <p14:creationId xmlns:p14="http://schemas.microsoft.com/office/powerpoint/2010/main" val="2885113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9F07C1-8F1A-0811-0C6C-5BE2C9CD8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Intro to BB84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29D86-5EB8-D83D-C0CA-1E4D1120D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Developed by Charles Bennett and Gilles Brassard in 1984, based on the Heisenberg’s uncertainty principle, which implies that certain pairs of physical properties cannot be known simultaneously.</a:t>
            </a:r>
          </a:p>
          <a:p>
            <a:r>
              <a:rPr lang="en-US" dirty="0"/>
              <a:t>It is considered one of the most prominent quantum protocols, and there are many variants of BB84.</a:t>
            </a:r>
          </a:p>
        </p:txBody>
      </p:sp>
    </p:spTree>
    <p:extLst>
      <p:ext uri="{BB962C8B-B14F-4D97-AF65-F5344CB8AC3E}">
        <p14:creationId xmlns:p14="http://schemas.microsoft.com/office/powerpoint/2010/main" val="515910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8BBB08-E6FA-C7D4-3573-FCA23B16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8BF06-C0CE-6681-DBC7-FB0EFB1C2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Alice prepares a qubits at random bits and bases to be sent to Bob.</a:t>
            </a:r>
          </a:p>
          <a:p>
            <a:pPr marL="514350" indent="-514350">
              <a:buAutoNum type="arabicPeriod"/>
            </a:pPr>
            <a:r>
              <a:rPr lang="en-US" dirty="0"/>
              <a:t>Eve possibly intercepts and measures the photons before Bob receives the qubits.</a:t>
            </a:r>
          </a:p>
          <a:p>
            <a:pPr marL="514350" indent="-514350">
              <a:buAutoNum type="arabicPeriod"/>
            </a:pPr>
            <a:r>
              <a:rPr lang="en-US" dirty="0"/>
              <a:t>Bob selects random bases, receives the string of qubits, measures them based on the bases.</a:t>
            </a:r>
          </a:p>
          <a:p>
            <a:pPr marL="514350" indent="-514350">
              <a:buAutoNum type="arabicPeriod"/>
            </a:pPr>
            <a:r>
              <a:rPr lang="en-US" dirty="0"/>
              <a:t>Bob announces that bits have been received.</a:t>
            </a:r>
          </a:p>
          <a:p>
            <a:pPr marL="514350" indent="-514350">
              <a:buAutoNum type="arabicPeriod"/>
            </a:pPr>
            <a:r>
              <a:rPr lang="en-US" dirty="0"/>
              <a:t>Alice reveals her bases.</a:t>
            </a:r>
          </a:p>
        </p:txBody>
      </p:sp>
    </p:spTree>
    <p:extLst>
      <p:ext uri="{BB962C8B-B14F-4D97-AF65-F5344CB8AC3E}">
        <p14:creationId xmlns:p14="http://schemas.microsoft.com/office/powerpoint/2010/main" val="3548975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8AF00-4E5F-A8AA-A01E-C5FBB4272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A505910-C757-3FF1-BEA0-977EE30ED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052D76F-C88B-2DCC-F53C-1800B8B5F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5E8C2-4F63-FF2F-67BF-7752A7CDA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E5024660-61C9-897F-44E3-D418E363E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FEF0A-86AF-22DF-F4FF-5995E5B01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6. Alice and Bob compares their bases, keeping only those that are matching, while discarding whatever isn’t matching (a process also known as sifting).</a:t>
            </a:r>
          </a:p>
          <a:p>
            <a:pPr marL="0" indent="0">
              <a:buNone/>
            </a:pPr>
            <a:r>
              <a:rPr lang="en-US" dirty="0"/>
              <a:t>7. Alice and Bob both select random bits that are publicly revealed from their matched strings and see if a certain number of them agree.</a:t>
            </a:r>
          </a:p>
          <a:p>
            <a:pPr marL="0" indent="0">
              <a:buNone/>
            </a:pPr>
            <a:r>
              <a:rPr lang="en-US" dirty="0"/>
              <a:t>8. If they agree, they use privacy amplification techniques to the non-revealed bits to create shared keys and if they don’t the process is cancelled and they start over.</a:t>
            </a:r>
          </a:p>
        </p:txBody>
      </p:sp>
    </p:spTree>
    <p:extLst>
      <p:ext uri="{BB962C8B-B14F-4D97-AF65-F5344CB8AC3E}">
        <p14:creationId xmlns:p14="http://schemas.microsoft.com/office/powerpoint/2010/main" val="3548843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924A8-61BB-A7C6-73EE-53BA3A47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BB84 Process</a:t>
            </a:r>
          </a:p>
        </p:txBody>
      </p:sp>
      <p:pic>
        <p:nvPicPr>
          <p:cNvPr id="8" name="Online Media 7" descr="Quantum cryptography: The BB 84 protocol (U3-02-03)">
            <a:hlinkClick r:id="" action="ppaction://media"/>
            <a:extLst>
              <a:ext uri="{FF2B5EF4-FFF2-40B4-BE49-F238E27FC236}">
                <a16:creationId xmlns:a16="http://schemas.microsoft.com/office/drawing/2014/main" id="{FD2CD378-E6FD-B236-D146-72193E0F4D6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5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3D8A98-7E48-41DC-E1E8-50AA1481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BB84 vs E91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688F9-84EA-E2CD-BD08-631E528E2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fontScale="92500" lnSpcReduction="10000"/>
          </a:bodyPr>
          <a:lstStyle/>
          <a:p>
            <a:r>
              <a:rPr lang="en-US" dirty="0"/>
              <a:t>E91 is another protocol, developed by Artur Ekert in 1991</a:t>
            </a:r>
          </a:p>
          <a:p>
            <a:r>
              <a:rPr lang="en-US" dirty="0"/>
              <a:t>Based on quantum entanglement where if 2 particles are entangled and one has its properties measured, they exhibit strong correlation (which is used to detect eavesdropping), regardless of the distance between the particles.</a:t>
            </a:r>
          </a:p>
          <a:p>
            <a:r>
              <a:rPr lang="en-US" dirty="0"/>
              <a:t>Can be more secure than BB84 as it can be made device-independent – the flaws of the hardware do not affect the performance and security of the protocol.</a:t>
            </a:r>
          </a:p>
          <a:p>
            <a:r>
              <a:rPr lang="en-US" dirty="0"/>
              <a:t>However, it is less efficient than BB84, as BB84 does not require entanglement -  which is more resource-intensive.</a:t>
            </a:r>
          </a:p>
        </p:txBody>
      </p:sp>
    </p:spTree>
    <p:extLst>
      <p:ext uri="{BB962C8B-B14F-4D97-AF65-F5344CB8AC3E}">
        <p14:creationId xmlns:p14="http://schemas.microsoft.com/office/powerpoint/2010/main" val="2573735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04B82-6FD5-1735-C110-99B993ABB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BB84 vs B92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B4797-88FA-E1B9-DCF1-C092C5043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B92 is a variant of BB84 developed by Charles Bennett in 1992</a:t>
            </a:r>
          </a:p>
          <a:p>
            <a:r>
              <a:rPr lang="en-US" dirty="0"/>
              <a:t>BB84 uses 4 different polarization states while B92 uses only 2 non-orthogonal states.</a:t>
            </a:r>
          </a:p>
          <a:p>
            <a:r>
              <a:rPr lang="en-US" dirty="0"/>
              <a:t> B92 is less efficient than BB84 – it receives and transmits fewer bits than BB84.</a:t>
            </a:r>
          </a:p>
          <a:p>
            <a:r>
              <a:rPr lang="en-US" dirty="0"/>
              <a:t>However, B92 is simpler to implement – making it suitable for educational purposes as simplicity is prioritized over security.</a:t>
            </a:r>
          </a:p>
        </p:txBody>
      </p:sp>
    </p:spTree>
    <p:extLst>
      <p:ext uri="{BB962C8B-B14F-4D97-AF65-F5344CB8AC3E}">
        <p14:creationId xmlns:p14="http://schemas.microsoft.com/office/powerpoint/2010/main" val="25060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4BD001-8D94-7ADC-1689-376BF5D83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A30826-EECB-D809-0B83-8970CD85F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AFB2F7E-2AC6-D066-6528-895AFFE37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BC07A-8A1B-9E41-4C7E-32C13FC32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Limitations of QKD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F7E6C32-B139-7EC6-34A6-E59266936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B83D2-4E72-CDF3-8163-B960D5ABD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Requires specialized hardware</a:t>
            </a:r>
          </a:p>
          <a:p>
            <a:r>
              <a:rPr lang="en-US" dirty="0"/>
              <a:t>Costs are high</a:t>
            </a:r>
          </a:p>
          <a:p>
            <a:r>
              <a:rPr lang="en-US" dirty="0"/>
              <a:t>There are distance limitations, with QKD demonstrations reaching a few hundred kilometers and commercial QKD systems reaching up to 100 kilometers.</a:t>
            </a:r>
          </a:p>
          <a:p>
            <a:r>
              <a:rPr lang="en-US" dirty="0"/>
              <a:t>Increases the risk of denial service as QKD channels can be disrupted by blocking photons.</a:t>
            </a:r>
          </a:p>
        </p:txBody>
      </p:sp>
    </p:spTree>
    <p:extLst>
      <p:ext uri="{BB962C8B-B14F-4D97-AF65-F5344CB8AC3E}">
        <p14:creationId xmlns:p14="http://schemas.microsoft.com/office/powerpoint/2010/main" val="2928710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8C43D-C315-0A9D-4D5E-A479117A1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71D5006-38E6-7C1F-734B-711D27713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72C4D59-1B90-1597-CF94-F44502BD3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DB35A-9C0A-E939-25DD-654BE0C92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Conclusion and Future of QKD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4A1FAB71-0E07-CB1A-B9BE-51025E75C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4EC15-35FA-ACD3-AAB4-60EF2ABB7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As technology advances, QKD could be the norm to security infrastructures across industries</a:t>
            </a:r>
          </a:p>
          <a:p>
            <a:r>
              <a:rPr lang="en-US" dirty="0"/>
              <a:t>Though it involves overcoming a number of challenges, the QKD market has the potential to grow </a:t>
            </a:r>
            <a:r>
              <a:rPr lang="en-US"/>
              <a:t>at a compound </a:t>
            </a:r>
            <a:r>
              <a:rPr lang="en-US" dirty="0"/>
              <a:t>annual </a:t>
            </a:r>
            <a:r>
              <a:rPr lang="en-US"/>
              <a:t>growth rate (CAGR) </a:t>
            </a:r>
            <a:r>
              <a:rPr lang="en-US" dirty="0"/>
              <a:t>of ~20–30% over the next decade.</a:t>
            </a:r>
          </a:p>
          <a:p>
            <a:r>
              <a:rPr lang="en-US" dirty="0"/>
              <a:t>There will be technologically improvements, like longer distance QKD</a:t>
            </a:r>
          </a:p>
          <a:p>
            <a:r>
              <a:rPr lang="en-US" dirty="0"/>
              <a:t>Usage might increase especially in high-security sectors and may play a large role in quantum internet</a:t>
            </a:r>
          </a:p>
        </p:txBody>
      </p:sp>
    </p:spTree>
    <p:extLst>
      <p:ext uri="{BB962C8B-B14F-4D97-AF65-F5344CB8AC3E}">
        <p14:creationId xmlns:p14="http://schemas.microsoft.com/office/powerpoint/2010/main" val="2733515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BDA642-4240-4AF4-1A9B-8DD1C7447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15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779</Words>
  <Application>Microsoft Macintosh PowerPoint</Application>
  <PresentationFormat>Widescreen</PresentationFormat>
  <Paragraphs>62</Paragraphs>
  <Slides>11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BB84 and Quantum Key Distribution</vt:lpstr>
      <vt:lpstr>Quantum Key Distribution</vt:lpstr>
      <vt:lpstr>Intro to BB84</vt:lpstr>
      <vt:lpstr>Process</vt:lpstr>
      <vt:lpstr>Process</vt:lpstr>
      <vt:lpstr>BB84 Process</vt:lpstr>
      <vt:lpstr>BB84 vs E91</vt:lpstr>
      <vt:lpstr>BB84 vs B92</vt:lpstr>
      <vt:lpstr>Limitations of QKD</vt:lpstr>
      <vt:lpstr>Conclusion and Future of QKD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Jie Min Phan</dc:creator>
  <cp:lastModifiedBy>Jie Min Phan</cp:lastModifiedBy>
  <cp:revision>3</cp:revision>
  <dcterms:created xsi:type="dcterms:W3CDTF">2025-11-16T00:16:23Z</dcterms:created>
  <dcterms:modified xsi:type="dcterms:W3CDTF">2025-11-16T06:39:50Z</dcterms:modified>
</cp:coreProperties>
</file>